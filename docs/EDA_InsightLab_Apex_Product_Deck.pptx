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problem, not the feature list. Say: “The hardest failures in data science often happen before modeling. I built EDA InsightLab Apex to make that entire reasoning path visible, explainable, and exportable.”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project as a workflow problem. Emphasize that the product is designed to reduce pre-modeling risk and make analytical decisions inspectable.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differentiator is not the number of charts; it is the continuity of the workflow and the visibility of every transformation.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health score is a transparent prioritization heuristic. It is deliberately not described as a prediction of model performance.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one histogram, one box plot, and one relationship view. Always interpret the evidence and state that correlation does not establish causality.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one ratio or interaction live. Explain that useful features must come from domain reasoning, not only mathematical possibility. Then show the inventory and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is a transparent screening layer, not a claim of feature importance from a trained model. The target and target-derived variables are excluded to reduce leakage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standardization occurs first. Point out explained variance and the 2D projection. State clearly that PCA is exploratory and not causal.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Data Vault and download the CSV. Then explain that exportability makes the workflow reproducible, but model readiness still depends on task-aware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right place to show maturity. The browser version is a deliberate demonstration architecture. Production requires validated libraries, secure storage, lineage, testing, and governance.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a credibility amplifier. Do not apologize for boundaries. Show that you know the difference between a functioning prototype, an educational heuristic, and a production statistical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ownership. Say: “This is the first complete release. I now want to validate the methods against reference libraries and evolve it around real analytical decisions.”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PEX_MASTER">
    <p:bg>
      <p:bgPr>
        <a:solidFill>
          <a:srgbClr val="05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0D5FF"/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60" kern="0" dirty="0">
                <a:solidFill>
                  <a:srgbClr val="758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 INSIGHTLAB APEX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9710928" y="64739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spc="140" kern="0" dirty="0">
                <a:solidFill>
                  <a:srgbClr val="7583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KRISS GOWDA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7583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7583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3977640"/>
          </a:xfrm>
          <a:prstGeom prst="ellipse">
            <a:avLst/>
          </a:prstGeom>
          <a:solidFill>
            <a:srgbClr val="7C5CFF">
              <a:alpha val="14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94192" y="0"/>
            <a:ext cx="3767328" cy="3767328"/>
          </a:xfrm>
          <a:prstGeom prst="ellipse">
            <a:avLst/>
          </a:prstGeom>
          <a:solidFill>
            <a:srgbClr val="00D5FF">
              <a:alpha val="10000"/>
            </a:srgbClr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43400" y="3913632"/>
            <a:ext cx="3520440" cy="2468880"/>
          </a:xfrm>
          <a:prstGeom prst="ellipse">
            <a:avLst/>
          </a:prstGeom>
          <a:solidFill>
            <a:srgbClr val="39FFB6">
              <a:alpha val="7000"/>
            </a:srgbClr>
          </a:solidFill>
          <a:ln w="12700">
            <a:solidFill>
              <a:srgbClr val="39FF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500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114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663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1792" y="640080"/>
            <a:ext cx="3246120" cy="329184"/>
          </a:xfrm>
          <a:prstGeom prst="roundRect">
            <a:avLst>
              <a:gd name="adj" fmla="val 50000"/>
            </a:avLst>
          </a:prstGeom>
          <a:solidFill>
            <a:srgbClr val="39FFB6">
              <a:alpha val="17000"/>
            </a:srgbClr>
          </a:solidFill>
          <a:ln w="12700">
            <a:solidFill>
              <a:srgbClr val="39FFB6">
                <a:alpha val="65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708660"/>
            <a:ext cx="30266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spc="80" kern="0" dirty="0">
                <a:solidFill>
                  <a:srgbClr val="39FF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LOCAL-FIRST · EXPLAINABLE · EXPORTABLE</a:t>
            </a:r>
            <a:endParaRPr lang="en-US" sz="770" dirty="0"/>
          </a:p>
        </p:txBody>
      </p:sp>
      <p:sp>
        <p:nvSpPr>
          <p:cNvPr id="38" name="Text 36"/>
          <p:cNvSpPr/>
          <p:nvPr/>
        </p:nvSpPr>
        <p:spPr>
          <a:xfrm>
            <a:off x="621792" y="1170432"/>
            <a:ext cx="4709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1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EDA InsightLab</a:t>
            </a:r>
            <a:endParaRPr lang="en-US" sz="4100" dirty="0"/>
          </a:p>
          <a:p>
            <a:pPr indent="0" marL="0">
              <a:buNone/>
            </a:pPr>
            <a:r>
              <a:rPr lang="en-US" sz="41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Apex</a:t>
            </a:r>
            <a:endParaRPr lang="en-US" sz="4100" dirty="0"/>
          </a:p>
        </p:txBody>
      </p:sp>
      <p:sp>
        <p:nvSpPr>
          <p:cNvPr id="39" name="Text 37"/>
          <p:cNvSpPr/>
          <p:nvPr/>
        </p:nvSpPr>
        <p:spPr>
          <a:xfrm>
            <a:off x="658368" y="285292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D5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From raw tables to defensible, model-ready data.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58368" y="3858768"/>
            <a:ext cx="457200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statistical discovery product for profiling, visual diagnostics, preprocessing, feature engineering, target-aware selection, PCA, and final analytical export.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8368" y="523036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70" kern="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KRISS GOWDA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58368" y="555955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70" b="1" spc="140" kern="0" dirty="0">
                <a:solidFill>
                  <a:srgbClr val="7482A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· DATA SCIENCE · PRODUCT ENGINEERING</a:t>
            </a:r>
            <a:endParaRPr lang="en-US" sz="770" dirty="0"/>
          </a:p>
        </p:txBody>
      </p:sp>
      <p:sp>
        <p:nvSpPr>
          <p:cNvPr id="43" name="Shape 41"/>
          <p:cNvSpPr/>
          <p:nvPr/>
        </p:nvSpPr>
        <p:spPr>
          <a:xfrm>
            <a:off x="5769864" y="493776"/>
            <a:ext cx="5980176" cy="5522976"/>
          </a:xfrm>
          <a:prstGeom prst="roundRect">
            <a:avLst>
              <a:gd name="adj" fmla="val 2980"/>
            </a:avLst>
          </a:prstGeom>
          <a:solidFill>
            <a:srgbClr val="11182C"/>
          </a:solidFill>
          <a:ln w="16510">
            <a:solidFill>
              <a:srgbClr val="7C5CFF">
                <a:alpha val="55000"/>
              </a:srgbClr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30000"/>
              </a:srgbClr>
            </a:outerShdw>
          </a:effectLst>
        </p:spPr>
      </p:sp>
      <p:pic>
        <p:nvPicPr>
          <p:cNvPr id="44" name="Image 0" descr="/mnt/data/Kriss_Gowda_GitHub_Launch_Kit_Work/EDA-InsightLab-Apex/assets/screenshots/homepage.png">    </p:cNvPr>
          <p:cNvPicPr>
            <a:picLocks noChangeAspect="1"/>
          </p:cNvPicPr>
          <p:nvPr/>
        </p:nvPicPr>
        <p:blipFill>
          <a:blip r:embed="rId1"/>
          <a:srcRect l="12365" r="12365" t="0" b="0"/>
          <a:stretch/>
        </p:blipFill>
        <p:spPr>
          <a:xfrm>
            <a:off x="5806440" y="530352"/>
            <a:ext cx="5907024" cy="5449824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6629400" y="5239512"/>
            <a:ext cx="4343400" cy="530352"/>
          </a:xfrm>
          <a:prstGeom prst="roundRect">
            <a:avLst>
              <a:gd name="adj" fmla="val 31034"/>
            </a:avLst>
          </a:prstGeom>
          <a:solidFill>
            <a:srgbClr val="07101F">
              <a:alpha val="92000"/>
            </a:srgbClr>
          </a:solidFill>
          <a:ln w="12700">
            <a:solidFill>
              <a:srgbClr val="00D5FF">
                <a:alpha val="30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839712" y="5404104"/>
            <a:ext cx="3950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krishna-v-gowda.github.io/EDA-InsightLab-Apex/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7583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0"/>
            <a:ext cx="3886200" cy="3886200"/>
          </a:xfrm>
          <a:prstGeom prst="ellipse">
            <a:avLst/>
          </a:prstGeom>
          <a:solidFill>
            <a:srgbClr val="7C5CFF">
              <a:alpha val="11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83280"/>
            <a:ext cx="3703320" cy="2971800"/>
          </a:xfrm>
          <a:prstGeom prst="ellipse">
            <a:avLst/>
          </a:prstGeom>
          <a:solidFill>
            <a:srgbClr val="00D5FF">
              <a:alpha val="8000"/>
            </a:srgbClr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15968" y="0"/>
            <a:ext cx="3429000" cy="2926080"/>
          </a:xfrm>
          <a:prstGeom prst="ellipse">
            <a:avLst/>
          </a:prstGeom>
          <a:solidFill>
            <a:srgbClr val="39FFB6">
              <a:alpha val="5000"/>
            </a:srgbClr>
          </a:solidFill>
          <a:ln w="12700">
            <a:solidFill>
              <a:srgbClr val="39FF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500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114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663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29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74980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model is rarely the first failure point.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566928" y="1481328"/>
            <a:ext cx="11018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analytical risk enters earlier - through data quality, leakage, weak feature design, and opaque handoffs.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03504" y="2240280"/>
            <a:ext cx="2542032" cy="2331720"/>
          </a:xfrm>
          <a:prstGeom prst="roundRect">
            <a:avLst>
              <a:gd name="adj" fmla="val 5490"/>
            </a:avLst>
          </a:prstGeom>
          <a:solidFill>
            <a:srgbClr val="0D1324">
              <a:alpha val="92000"/>
            </a:srgbClr>
          </a:solidFill>
          <a:ln w="12700">
            <a:solidFill>
              <a:srgbClr val="2A385C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575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86384" y="2889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MESSY INPUT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86384" y="33649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values, duplicate records, inconsistent types and extreme values distort the evidence.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3456432" y="2240280"/>
            <a:ext cx="2542032" cy="2331720"/>
          </a:xfrm>
          <a:prstGeom prst="roundRect">
            <a:avLst>
              <a:gd name="adj" fmla="val 5490"/>
            </a:avLst>
          </a:prstGeom>
          <a:solidFill>
            <a:srgbClr val="0D1324">
              <a:alpha val="92000"/>
            </a:srgbClr>
          </a:solidFill>
          <a:ln w="12700">
            <a:solidFill>
              <a:srgbClr val="2A385C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639312" y="2889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LEAKAGE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39312" y="33649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or target-derived information can make a model look strong while making it useless in reality.</a:t>
            </a:r>
            <a:endParaRPr lang="en-US" sz="920" dirty="0"/>
          </a:p>
        </p:txBody>
      </p:sp>
      <p:sp>
        <p:nvSpPr>
          <p:cNvPr id="47" name="Shape 45"/>
          <p:cNvSpPr/>
          <p:nvPr/>
        </p:nvSpPr>
        <p:spPr>
          <a:xfrm>
            <a:off x="6309360" y="2240280"/>
            <a:ext cx="2542032" cy="2331720"/>
          </a:xfrm>
          <a:prstGeom prst="roundRect">
            <a:avLst>
              <a:gd name="adj" fmla="val 5490"/>
            </a:avLst>
          </a:prstGeom>
          <a:solidFill>
            <a:srgbClr val="0D1324">
              <a:alpha val="92000"/>
            </a:srgbClr>
          </a:solidFill>
          <a:ln w="12700">
            <a:solidFill>
              <a:srgbClr val="2A385C">
                <a:alpha val="8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5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492240" y="2889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SIGNALS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33649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columns often fail to express the domain relationships a model actually needs.</a:t>
            </a:r>
            <a:endParaRPr lang="en-US" sz="920" dirty="0"/>
          </a:p>
        </p:txBody>
      </p:sp>
      <p:sp>
        <p:nvSpPr>
          <p:cNvPr id="51" name="Shape 49"/>
          <p:cNvSpPr/>
          <p:nvPr/>
        </p:nvSpPr>
        <p:spPr>
          <a:xfrm>
            <a:off x="9162288" y="2240280"/>
            <a:ext cx="2542032" cy="2331720"/>
          </a:xfrm>
          <a:prstGeom prst="roundRect">
            <a:avLst>
              <a:gd name="adj" fmla="val 5490"/>
            </a:avLst>
          </a:prstGeom>
          <a:solidFill>
            <a:srgbClr val="0D1324">
              <a:alpha val="92000"/>
            </a:srgbClr>
          </a:solidFill>
          <a:ln w="12700">
            <a:solidFill>
              <a:srgbClr val="2A385C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45168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5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04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345168" y="28895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OPAQUE HANDOFF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345168" y="3364992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transformations live across ad hoc scripts, stakeholders cannot trace what changed or why.</a:t>
            </a:r>
            <a:endParaRPr lang="en-US" sz="920" dirty="0"/>
          </a:p>
        </p:txBody>
      </p:sp>
      <p:sp>
        <p:nvSpPr>
          <p:cNvPr id="55" name="Shape 53"/>
          <p:cNvSpPr/>
          <p:nvPr/>
        </p:nvSpPr>
        <p:spPr>
          <a:xfrm>
            <a:off x="822960" y="5266944"/>
            <a:ext cx="10515600" cy="0"/>
          </a:xfrm>
          <a:prstGeom prst="line">
            <a:avLst/>
          </a:prstGeom>
          <a:noFill/>
          <a:ln w="15240">
            <a:solidFill>
              <a:srgbClr val="263454"/>
            </a:solidFill>
            <a:prstDash val="solid"/>
            <a:headEnd type="none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621792" y="5102352"/>
            <a:ext cx="329184" cy="329184"/>
          </a:xfrm>
          <a:prstGeom prst="ellipse">
            <a:avLst/>
          </a:prstGeom>
          <a:solidFill>
            <a:srgbClr val="FF6575"/>
          </a:solidFill>
          <a:ln w="12700">
            <a:solidFill>
              <a:srgbClr val="F4F7FF">
                <a:alpha val="25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9184" y="5522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data</a:t>
            </a:r>
            <a:endParaRPr lang="en-US" sz="770" dirty="0"/>
          </a:p>
        </p:txBody>
      </p:sp>
      <p:sp>
        <p:nvSpPr>
          <p:cNvPr id="58" name="Shape 56"/>
          <p:cNvSpPr/>
          <p:nvPr/>
        </p:nvSpPr>
        <p:spPr>
          <a:xfrm>
            <a:off x="2697480" y="5102352"/>
            <a:ext cx="329184" cy="329184"/>
          </a:xfrm>
          <a:prstGeom prst="ellipse">
            <a:avLst/>
          </a:prstGeom>
          <a:solidFill>
            <a:srgbClr val="FF6575"/>
          </a:solidFill>
          <a:ln w="12700">
            <a:solidFill>
              <a:srgbClr val="F4F7FF">
                <a:alpha val="25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404872" y="5522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Exploration</a:t>
            </a:r>
            <a:endParaRPr lang="en-US" sz="770" dirty="0"/>
          </a:p>
        </p:txBody>
      </p:sp>
      <p:sp>
        <p:nvSpPr>
          <p:cNvPr id="60" name="Shape 58"/>
          <p:cNvSpPr/>
          <p:nvPr/>
        </p:nvSpPr>
        <p:spPr>
          <a:xfrm>
            <a:off x="4773168" y="5102352"/>
            <a:ext cx="329184" cy="329184"/>
          </a:xfrm>
          <a:prstGeom prst="ellipse">
            <a:avLst/>
          </a:prstGeom>
          <a:solidFill>
            <a:srgbClr val="FF6575"/>
          </a:solidFill>
          <a:ln w="12700">
            <a:solidFill>
              <a:srgbClr val="F4F7FF">
                <a:alpha val="2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80560" y="5522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Preparation</a:t>
            </a:r>
            <a:endParaRPr lang="en-US" sz="770" dirty="0"/>
          </a:p>
        </p:txBody>
      </p:sp>
      <p:sp>
        <p:nvSpPr>
          <p:cNvPr id="62" name="Shape 60"/>
          <p:cNvSpPr/>
          <p:nvPr/>
        </p:nvSpPr>
        <p:spPr>
          <a:xfrm>
            <a:off x="6848856" y="5102352"/>
            <a:ext cx="329184" cy="329184"/>
          </a:xfrm>
          <a:prstGeom prst="ellipse">
            <a:avLst/>
          </a:prstGeom>
          <a:solidFill>
            <a:srgbClr val="FF6575"/>
          </a:solidFill>
          <a:ln w="12700">
            <a:solidFill>
              <a:srgbClr val="F4F7FF">
                <a:alpha val="2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56248" y="5522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770" dirty="0"/>
          </a:p>
        </p:txBody>
      </p:sp>
      <p:sp>
        <p:nvSpPr>
          <p:cNvPr id="64" name="Shape 62"/>
          <p:cNvSpPr/>
          <p:nvPr/>
        </p:nvSpPr>
        <p:spPr>
          <a:xfrm>
            <a:off x="8924544" y="5102352"/>
            <a:ext cx="329184" cy="329184"/>
          </a:xfrm>
          <a:prstGeom prst="ellipse">
            <a:avLst/>
          </a:prstGeom>
          <a:solidFill>
            <a:srgbClr val="39FFB6"/>
          </a:solidFill>
          <a:ln w="12700">
            <a:solidFill>
              <a:srgbClr val="F4F7FF">
                <a:alpha val="25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631936" y="5522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770" dirty="0"/>
          </a:p>
        </p:txBody>
      </p:sp>
      <p:sp>
        <p:nvSpPr>
          <p:cNvPr id="66" name="Shape 64"/>
          <p:cNvSpPr/>
          <p:nvPr/>
        </p:nvSpPr>
        <p:spPr>
          <a:xfrm>
            <a:off x="11000232" y="5102352"/>
            <a:ext cx="329184" cy="329184"/>
          </a:xfrm>
          <a:prstGeom prst="ellipse">
            <a:avLst/>
          </a:prstGeom>
          <a:solidFill>
            <a:srgbClr val="39FFB6"/>
          </a:solidFill>
          <a:ln w="12700">
            <a:solidFill>
              <a:srgbClr val="F4F7FF">
                <a:alpha val="25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707624" y="55229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770" dirty="0"/>
          </a:p>
        </p:txBody>
      </p:sp>
      <p:sp>
        <p:nvSpPr>
          <p:cNvPr id="68" name="Text 66"/>
          <p:cNvSpPr/>
          <p:nvPr/>
        </p:nvSpPr>
        <p:spPr>
          <a:xfrm>
            <a:off x="2221992" y="59618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better product must protect the entire path - not only display the final chart.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7583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3977640"/>
          </a:xfrm>
          <a:prstGeom prst="ellipse">
            <a:avLst/>
          </a:prstGeom>
          <a:solidFill>
            <a:srgbClr val="7C5CFF">
              <a:alpha val="14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94192" y="0"/>
            <a:ext cx="3767328" cy="3767328"/>
          </a:xfrm>
          <a:prstGeom prst="ellipse">
            <a:avLst/>
          </a:prstGeom>
          <a:solidFill>
            <a:srgbClr val="00D5FF">
              <a:alpha val="10000"/>
            </a:srgbClr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43400" y="3913632"/>
            <a:ext cx="3520440" cy="2468880"/>
          </a:xfrm>
          <a:prstGeom prst="ellipse">
            <a:avLst/>
          </a:prstGeom>
          <a:solidFill>
            <a:srgbClr val="39FFB6">
              <a:alpha val="7000"/>
            </a:srgbClr>
          </a:solidFill>
          <a:ln w="12700">
            <a:solidFill>
              <a:srgbClr val="39FF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500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114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663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29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THESIS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749808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One visible journey from raw CSV to analytical handoff.</a:t>
            </a:r>
            <a:endParaRPr lang="en-US" sz="2900" dirty="0"/>
          </a:p>
        </p:txBody>
      </p:sp>
      <p:sp>
        <p:nvSpPr>
          <p:cNvPr id="38" name="Text 36"/>
          <p:cNvSpPr/>
          <p:nvPr/>
        </p:nvSpPr>
        <p:spPr>
          <a:xfrm>
            <a:off x="566928" y="1481328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Seven connected stages. Every transformation is explainable. Every major output is exportable.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48640" y="1682496"/>
            <a:ext cx="11091672" cy="4462272"/>
          </a:xfrm>
          <a:prstGeom prst="roundRect">
            <a:avLst>
              <a:gd name="adj" fmla="val 3689"/>
            </a:avLst>
          </a:prstGeom>
          <a:solidFill>
            <a:srgbClr val="11182C"/>
          </a:solidFill>
          <a:ln w="16510">
            <a:solidFill>
              <a:srgbClr val="39FFB6">
                <a:alpha val="55000"/>
              </a:srgbClr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30000"/>
              </a:srgbClr>
            </a:outerShdw>
          </a:effectLst>
        </p:spPr>
      </p:sp>
      <p:pic>
        <p:nvPicPr>
          <p:cNvPr id="40" name="Image 0" descr="/mnt/data/Kriss_Gowda_GitHub_Launch_Kit_Work/EDA-InsightLab-Apex/assets/diagrams/workflow.png">    </p:cNvPr>
          <p:cNvPicPr>
            <a:picLocks noChangeAspect="1"/>
          </p:cNvPicPr>
          <p:nvPr/>
        </p:nvPicPr>
        <p:blipFill>
          <a:blip r:embed="rId1"/>
          <a:srcRect l="0" r="0" t="15857" b="15857"/>
          <a:stretch/>
        </p:blipFill>
        <p:spPr>
          <a:xfrm>
            <a:off x="585216" y="1719072"/>
            <a:ext cx="11018520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7583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0"/>
            <a:ext cx="3886200" cy="3886200"/>
          </a:xfrm>
          <a:prstGeom prst="ellipse">
            <a:avLst/>
          </a:prstGeom>
          <a:solidFill>
            <a:srgbClr val="7C5CFF">
              <a:alpha val="11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83280"/>
            <a:ext cx="3703320" cy="2971800"/>
          </a:xfrm>
          <a:prstGeom prst="ellipse">
            <a:avLst/>
          </a:prstGeom>
          <a:solidFill>
            <a:srgbClr val="00D5FF">
              <a:alpha val="8000"/>
            </a:srgbClr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15968" y="0"/>
            <a:ext cx="3429000" cy="2926080"/>
          </a:xfrm>
          <a:prstGeom prst="ellipse">
            <a:avLst/>
          </a:prstGeom>
          <a:solidFill>
            <a:srgbClr val="39FFB6">
              <a:alpha val="5000"/>
            </a:srgbClr>
          </a:solidFill>
          <a:ln w="12700">
            <a:solidFill>
              <a:srgbClr val="39FF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500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114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663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29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PROFILE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74980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A command center for understanding the data before changing it.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566928" y="144475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schema, quality signals, distributions, missingness, duplicates, outlier pressure, and a searchable preview.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30352" y="1591056"/>
            <a:ext cx="7781544" cy="4599432"/>
          </a:xfrm>
          <a:prstGeom prst="roundRect">
            <a:avLst>
              <a:gd name="adj" fmla="val 3579"/>
            </a:avLst>
          </a:prstGeom>
          <a:solidFill>
            <a:srgbClr val="11182C"/>
          </a:solidFill>
          <a:ln w="16510">
            <a:solidFill>
              <a:srgbClr val="00D5FF">
                <a:alpha val="55000"/>
              </a:srgbClr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30000"/>
              </a:srgbClr>
            </a:outerShdw>
          </a:effectLst>
        </p:spPr>
      </p:sp>
      <p:pic>
        <p:nvPicPr>
          <p:cNvPr id="40" name="Image 0" descr="/mnt/data/Kriss_Gowda_GitHub_Launch_Kit_Work/EDA-InsightLab-Apex/assets/screenshots/studio.png">    </p:cNvPr>
          <p:cNvPicPr>
            <a:picLocks noChangeAspect="1"/>
          </p:cNvPicPr>
          <p:nvPr/>
        </p:nvPicPr>
        <p:blipFill>
          <a:blip r:embed="rId1"/>
          <a:srcRect l="0" r="0" t="20232" b="20232"/>
          <a:stretch/>
        </p:blipFill>
        <p:spPr>
          <a:xfrm>
            <a:off x="566928" y="1627632"/>
            <a:ext cx="7708392" cy="45262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8549640" y="1773936"/>
            <a:ext cx="3017520" cy="960120"/>
          </a:xfrm>
          <a:prstGeom prst="roundRect">
            <a:avLst>
              <a:gd name="adj" fmla="val 13333"/>
            </a:avLst>
          </a:prstGeom>
          <a:solidFill>
            <a:srgbClr val="0E162A">
              <a:alpha val="92000"/>
            </a:srgbClr>
          </a:solidFill>
          <a:ln w="12700">
            <a:solidFill>
              <a:srgbClr val="314264">
                <a:alpha val="85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695944" y="1938528"/>
            <a:ext cx="310896" cy="310896"/>
          </a:xfrm>
          <a:prstGeom prst="ellipse">
            <a:avLst/>
          </a:prstGeom>
          <a:solidFill>
            <a:srgbClr val="39FFB6"/>
          </a:solidFill>
          <a:ln w="12700">
            <a:solidFill>
              <a:srgbClr val="39FFB6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695944" y="1984248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9116568" y="1901952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Local-first intake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116568" y="2167128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Built-in datasets or a user CSV. Rows are processed inside the browser.</a:t>
            </a:r>
            <a:endParaRPr lang="en-US" sz="880" dirty="0"/>
          </a:p>
        </p:txBody>
      </p:sp>
      <p:sp>
        <p:nvSpPr>
          <p:cNvPr id="46" name="Shape 43"/>
          <p:cNvSpPr/>
          <p:nvPr/>
        </p:nvSpPr>
        <p:spPr>
          <a:xfrm>
            <a:off x="8549640" y="2862072"/>
            <a:ext cx="3017520" cy="960120"/>
          </a:xfrm>
          <a:prstGeom prst="roundRect">
            <a:avLst>
              <a:gd name="adj" fmla="val 13333"/>
            </a:avLst>
          </a:prstGeom>
          <a:solidFill>
            <a:srgbClr val="0E162A">
              <a:alpha val="92000"/>
            </a:srgbClr>
          </a:solidFill>
          <a:ln w="12700">
            <a:solidFill>
              <a:srgbClr val="314264">
                <a:alpha val="85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695944" y="3026664"/>
            <a:ext cx="310896" cy="310896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695944" y="3072384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9116568" y="2990088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 health signals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9116568" y="3255264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Missingness, duplicates and IQR pressure are visible - not hidden inside a pipeline.</a:t>
            </a:r>
            <a:endParaRPr lang="en-US" sz="880" dirty="0"/>
          </a:p>
        </p:txBody>
      </p:sp>
      <p:sp>
        <p:nvSpPr>
          <p:cNvPr id="51" name="Shape 48"/>
          <p:cNvSpPr/>
          <p:nvPr/>
        </p:nvSpPr>
        <p:spPr>
          <a:xfrm>
            <a:off x="8549640" y="3950208"/>
            <a:ext cx="3017520" cy="960120"/>
          </a:xfrm>
          <a:prstGeom prst="roundRect">
            <a:avLst>
              <a:gd name="adj" fmla="val 13333"/>
            </a:avLst>
          </a:prstGeom>
          <a:solidFill>
            <a:srgbClr val="0E162A">
              <a:alpha val="92000"/>
            </a:srgbClr>
          </a:solidFill>
          <a:ln w="12700">
            <a:solidFill>
              <a:srgbClr val="314264">
                <a:alpha val="8500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695944" y="4114800"/>
            <a:ext cx="310896" cy="310896"/>
          </a:xfrm>
          <a:prstGeom prst="ellipse">
            <a:avLst/>
          </a:prstGeom>
          <a:solidFill>
            <a:srgbClr val="7C5CFF"/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695944" y="416052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9116568" y="4078224"/>
            <a:ext cx="2304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Narrative layer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9116568" y="4343400"/>
            <a:ext cx="2304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interface explains what the diagnostics mean and what should be reviewed next.</a:t>
            </a:r>
            <a:endParaRPr lang="en-US" sz="880" dirty="0"/>
          </a:p>
        </p:txBody>
      </p:sp>
      <p:sp>
        <p:nvSpPr>
          <p:cNvPr id="56" name="Text 53"/>
          <p:cNvSpPr/>
          <p:nvPr/>
        </p:nvSpPr>
        <p:spPr>
          <a:xfrm>
            <a:off x="8705088" y="5230368"/>
            <a:ext cx="270662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Heuristic score ≠ model accuracy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7583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3977640"/>
          </a:xfrm>
          <a:prstGeom prst="ellipse">
            <a:avLst/>
          </a:prstGeom>
          <a:solidFill>
            <a:srgbClr val="7C5CFF">
              <a:alpha val="14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94192" y="0"/>
            <a:ext cx="3767328" cy="3767328"/>
          </a:xfrm>
          <a:prstGeom prst="ellipse">
            <a:avLst/>
          </a:prstGeom>
          <a:solidFill>
            <a:srgbClr val="00D5FF">
              <a:alpha val="10000"/>
            </a:srgbClr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43400" y="3913632"/>
            <a:ext cx="3520440" cy="2468880"/>
          </a:xfrm>
          <a:prstGeom prst="ellipse">
            <a:avLst/>
          </a:prstGeom>
          <a:solidFill>
            <a:srgbClr val="39FFB6">
              <a:alpha val="7000"/>
            </a:srgbClr>
          </a:solidFill>
          <a:ln w="12700">
            <a:solidFill>
              <a:srgbClr val="39FF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500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114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663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29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VISUALIZE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74980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Charts that teach, not just decorate.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566928" y="144475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visual connects the graphic to statistical interpretation, assumptions, and decision context.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30352" y="1627632"/>
            <a:ext cx="7388352" cy="4553712"/>
          </a:xfrm>
          <a:prstGeom prst="roundRect">
            <a:avLst>
              <a:gd name="adj" fmla="val 3614"/>
            </a:avLst>
          </a:prstGeom>
          <a:solidFill>
            <a:srgbClr val="11182C"/>
          </a:solidFill>
          <a:ln w="16510">
            <a:solidFill>
              <a:srgbClr val="7C5CFF">
                <a:alpha val="55000"/>
              </a:srgbClr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30000"/>
              </a:srgbClr>
            </a:outerShdw>
          </a:effectLst>
        </p:spPr>
      </p:sp>
      <p:pic>
        <p:nvPicPr>
          <p:cNvPr id="40" name="Image 0" descr="/mnt/data/Kriss_Gowda_GitHub_Launch_Kit_Work/EDA-InsightLab-Apex/assets/screenshots/visual-diagnostics.png">    </p:cNvPr>
          <p:cNvPicPr>
            <a:picLocks noChangeAspect="1"/>
          </p:cNvPicPr>
          <p:nvPr/>
        </p:nvPicPr>
        <p:blipFill>
          <a:blip r:embed="rId1"/>
          <a:srcRect l="889" r="889" t="0" b="0"/>
          <a:stretch/>
        </p:blipFill>
        <p:spPr>
          <a:xfrm>
            <a:off x="566928" y="1664208"/>
            <a:ext cx="7315200" cy="448056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8211312" y="1719072"/>
            <a:ext cx="3401568" cy="658368"/>
          </a:xfrm>
          <a:prstGeom prst="roundRect">
            <a:avLst>
              <a:gd name="adj" fmla="val 19444"/>
            </a:avLst>
          </a:prstGeom>
          <a:solidFill>
            <a:srgbClr val="0D1427">
              <a:alpha val="90000"/>
            </a:srgbClr>
          </a:solidFill>
          <a:ln w="12700">
            <a:solidFill>
              <a:srgbClr val="29395E">
                <a:alpha val="85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394192" y="1892808"/>
            <a:ext cx="201168" cy="201168"/>
          </a:xfrm>
          <a:prstGeom prst="ellipse">
            <a:avLst/>
          </a:prstGeom>
          <a:solidFill>
            <a:srgbClr val="00D5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732520" y="18105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</a:t>
            </a:r>
            <a:endParaRPr lang="en-US" sz="940" dirty="0"/>
          </a:p>
        </p:txBody>
      </p:sp>
      <p:sp>
        <p:nvSpPr>
          <p:cNvPr id="44" name="Text 41"/>
          <p:cNvSpPr/>
          <p:nvPr/>
        </p:nvSpPr>
        <p:spPr>
          <a:xfrm>
            <a:off x="8732520" y="2057400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Histogram + summary statistics</a:t>
            </a:r>
            <a:endParaRPr lang="en-US" sz="780" dirty="0"/>
          </a:p>
        </p:txBody>
      </p:sp>
      <p:sp>
        <p:nvSpPr>
          <p:cNvPr id="45" name="Shape 42"/>
          <p:cNvSpPr/>
          <p:nvPr/>
        </p:nvSpPr>
        <p:spPr>
          <a:xfrm>
            <a:off x="8211312" y="2560320"/>
            <a:ext cx="3401568" cy="658368"/>
          </a:xfrm>
          <a:prstGeom prst="roundRect">
            <a:avLst>
              <a:gd name="adj" fmla="val 19444"/>
            </a:avLst>
          </a:prstGeom>
          <a:solidFill>
            <a:srgbClr val="0D1427">
              <a:alpha val="90000"/>
            </a:srgbClr>
          </a:solidFill>
          <a:ln w="12700">
            <a:solidFill>
              <a:srgbClr val="29395E">
                <a:alpha val="85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8394192" y="2734056"/>
            <a:ext cx="201168" cy="201168"/>
          </a:xfrm>
          <a:prstGeom prst="ellipse">
            <a:avLst/>
          </a:prstGeom>
          <a:solidFill>
            <a:srgbClr val="39FF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732520" y="26517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Spread</a:t>
            </a:r>
            <a:endParaRPr lang="en-US" sz="940" dirty="0"/>
          </a:p>
        </p:txBody>
      </p:sp>
      <p:sp>
        <p:nvSpPr>
          <p:cNvPr id="48" name="Text 45"/>
          <p:cNvSpPr/>
          <p:nvPr/>
        </p:nvSpPr>
        <p:spPr>
          <a:xfrm>
            <a:off x="8732520" y="2898648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Box plot + IQR diagnostics</a:t>
            </a:r>
            <a:endParaRPr lang="en-US" sz="780" dirty="0"/>
          </a:p>
        </p:txBody>
      </p:sp>
      <p:sp>
        <p:nvSpPr>
          <p:cNvPr id="49" name="Shape 46"/>
          <p:cNvSpPr/>
          <p:nvPr/>
        </p:nvSpPr>
        <p:spPr>
          <a:xfrm>
            <a:off x="8211312" y="3401568"/>
            <a:ext cx="3401568" cy="658368"/>
          </a:xfrm>
          <a:prstGeom prst="roundRect">
            <a:avLst>
              <a:gd name="adj" fmla="val 19444"/>
            </a:avLst>
          </a:prstGeom>
          <a:solidFill>
            <a:srgbClr val="0D1427">
              <a:alpha val="90000"/>
            </a:srgbClr>
          </a:solidFill>
          <a:ln w="12700">
            <a:solidFill>
              <a:srgbClr val="29395E">
                <a:alpha val="8500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394192" y="3575304"/>
            <a:ext cx="201168" cy="201168"/>
          </a:xfrm>
          <a:prstGeom prst="ellipse">
            <a:avLst/>
          </a:prstGeom>
          <a:solidFill>
            <a:srgbClr val="7C5C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732520" y="3493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Relationship</a:t>
            </a:r>
            <a:endParaRPr lang="en-US" sz="940" dirty="0"/>
          </a:p>
        </p:txBody>
      </p:sp>
      <p:sp>
        <p:nvSpPr>
          <p:cNvPr id="52" name="Text 49"/>
          <p:cNvSpPr/>
          <p:nvPr/>
        </p:nvSpPr>
        <p:spPr>
          <a:xfrm>
            <a:off x="8732520" y="3739896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Scatter + Pearson correlation</a:t>
            </a:r>
            <a:endParaRPr lang="en-US" sz="780" dirty="0"/>
          </a:p>
        </p:txBody>
      </p:sp>
      <p:sp>
        <p:nvSpPr>
          <p:cNvPr id="53" name="Shape 50"/>
          <p:cNvSpPr/>
          <p:nvPr/>
        </p:nvSpPr>
        <p:spPr>
          <a:xfrm>
            <a:off x="8211312" y="4242816"/>
            <a:ext cx="3401568" cy="658368"/>
          </a:xfrm>
          <a:prstGeom prst="roundRect">
            <a:avLst>
              <a:gd name="adj" fmla="val 19444"/>
            </a:avLst>
          </a:prstGeom>
          <a:solidFill>
            <a:srgbClr val="0D1427">
              <a:alpha val="90000"/>
            </a:srgbClr>
          </a:solidFill>
          <a:ln w="12700">
            <a:solidFill>
              <a:srgbClr val="29395E">
                <a:alpha val="85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8394192" y="4416552"/>
            <a:ext cx="201168" cy="201168"/>
          </a:xfrm>
          <a:prstGeom prst="ellipse">
            <a:avLst/>
          </a:prstGeom>
          <a:solidFill>
            <a:srgbClr val="FFC85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732520" y="43342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</a:t>
            </a:r>
            <a:endParaRPr lang="en-US" sz="940" dirty="0"/>
          </a:p>
        </p:txBody>
      </p:sp>
      <p:sp>
        <p:nvSpPr>
          <p:cNvPr id="56" name="Text 53"/>
          <p:cNvSpPr/>
          <p:nvPr/>
        </p:nvSpPr>
        <p:spPr>
          <a:xfrm>
            <a:off x="8732520" y="4581144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heatmap</a:t>
            </a:r>
            <a:endParaRPr lang="en-US" sz="780" dirty="0"/>
          </a:p>
        </p:txBody>
      </p:sp>
      <p:sp>
        <p:nvSpPr>
          <p:cNvPr id="57" name="Shape 54"/>
          <p:cNvSpPr/>
          <p:nvPr/>
        </p:nvSpPr>
        <p:spPr>
          <a:xfrm>
            <a:off x="8211312" y="5084064"/>
            <a:ext cx="3401568" cy="658368"/>
          </a:xfrm>
          <a:prstGeom prst="roundRect">
            <a:avLst>
              <a:gd name="adj" fmla="val 19444"/>
            </a:avLst>
          </a:prstGeom>
          <a:solidFill>
            <a:srgbClr val="0D1427">
              <a:alpha val="90000"/>
            </a:srgbClr>
          </a:solidFill>
          <a:ln w="12700">
            <a:solidFill>
              <a:srgbClr val="29395E">
                <a:alpha val="8500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394192" y="5257800"/>
            <a:ext cx="201168" cy="201168"/>
          </a:xfrm>
          <a:prstGeom prst="ellipse">
            <a:avLst/>
          </a:prstGeom>
          <a:solidFill>
            <a:srgbClr val="FF657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732520" y="51755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</a:t>
            </a:r>
            <a:endParaRPr lang="en-US" sz="940" dirty="0"/>
          </a:p>
        </p:txBody>
      </p:sp>
      <p:sp>
        <p:nvSpPr>
          <p:cNvPr id="60" name="Text 57"/>
          <p:cNvSpPr/>
          <p:nvPr/>
        </p:nvSpPr>
        <p:spPr>
          <a:xfrm>
            <a:off x="8732520" y="5422392"/>
            <a:ext cx="2606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Missingness map</a:t>
            </a:r>
            <a:endParaRPr lang="en-US" sz="780" dirty="0"/>
          </a:p>
        </p:txBody>
      </p:sp>
      <p:sp>
        <p:nvSpPr>
          <p:cNvPr id="61" name="Text 58"/>
          <p:cNvSpPr/>
          <p:nvPr/>
        </p:nvSpPr>
        <p:spPr>
          <a:xfrm>
            <a:off x="8275320" y="598017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Association is evidence - not causation.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7583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0"/>
            <a:ext cx="3886200" cy="3886200"/>
          </a:xfrm>
          <a:prstGeom prst="ellipse">
            <a:avLst/>
          </a:prstGeom>
          <a:solidFill>
            <a:srgbClr val="7C5CFF">
              <a:alpha val="11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83280"/>
            <a:ext cx="3703320" cy="2971800"/>
          </a:xfrm>
          <a:prstGeom prst="ellipse">
            <a:avLst/>
          </a:prstGeom>
          <a:solidFill>
            <a:srgbClr val="00D5FF">
              <a:alpha val="8000"/>
            </a:srgbClr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15968" y="0"/>
            <a:ext cx="3429000" cy="2926080"/>
          </a:xfrm>
          <a:prstGeom prst="ellipse">
            <a:avLst/>
          </a:prstGeom>
          <a:solidFill>
            <a:srgbClr val="39FFB6">
              <a:alpha val="5000"/>
            </a:srgbClr>
          </a:solidFill>
          <a:ln w="12700">
            <a:solidFill>
              <a:srgbClr val="39FF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500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114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663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29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03–04 · PREPARE + ENGINEER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74980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Transformations become a product workflow - not invisible notebook state.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566928" y="144475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domain-relevant signals, inspect the inventory, and preserve a reproducible history.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30352" y="1591056"/>
            <a:ext cx="7799832" cy="4672584"/>
          </a:xfrm>
          <a:prstGeom prst="roundRect">
            <a:avLst>
              <a:gd name="adj" fmla="val 3523"/>
            </a:avLst>
          </a:prstGeom>
          <a:solidFill>
            <a:srgbClr val="11182C"/>
          </a:solidFill>
          <a:ln w="16510">
            <a:solidFill>
              <a:srgbClr val="39FFB6">
                <a:alpha val="55000"/>
              </a:srgbClr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30000"/>
              </a:srgbClr>
            </a:outerShdw>
          </a:effectLst>
        </p:spPr>
      </p:sp>
      <p:pic>
        <p:nvPicPr>
          <p:cNvPr id="40" name="Image 0" descr="/mnt/data/Kriss_Gowda_GitHub_Launch_Kit_Work/EDA-InsightLab-Apex/assets/screenshots/feature-engineering.png">    </p:cNvPr>
          <p:cNvPicPr>
            <a:picLocks noChangeAspect="1"/>
          </p:cNvPicPr>
          <p:nvPr/>
        </p:nvPicPr>
        <p:blipFill>
          <a:blip r:embed="rId1"/>
          <a:srcRect l="0" r="0" t="13888" b="13888"/>
          <a:stretch/>
        </p:blipFill>
        <p:spPr>
          <a:xfrm>
            <a:off x="566928" y="1627632"/>
            <a:ext cx="7726680" cy="4599432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8485632" y="1792224"/>
            <a:ext cx="1417320" cy="896112"/>
          </a:xfrm>
          <a:prstGeom prst="roundRect">
            <a:avLst>
              <a:gd name="adj" fmla="val 14286"/>
            </a:avLst>
          </a:prstGeom>
          <a:solidFill>
            <a:srgbClr val="10192D">
              <a:alpha val="92000"/>
            </a:srgbClr>
          </a:solidFill>
          <a:ln w="12700">
            <a:solidFill>
              <a:srgbClr val="314267">
                <a:alpha val="8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613648" y="1929384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</a:t>
            </a:r>
            <a:endParaRPr lang="en-US" sz="880" dirty="0"/>
          </a:p>
        </p:txBody>
      </p:sp>
      <p:sp>
        <p:nvSpPr>
          <p:cNvPr id="43" name="Text 40"/>
          <p:cNvSpPr/>
          <p:nvPr/>
        </p:nvSpPr>
        <p:spPr>
          <a:xfrm>
            <a:off x="8613648" y="2212848"/>
            <a:ext cx="1161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/ B with zero-safe handling</a:t>
            </a:r>
            <a:endParaRPr lang="en-US" sz="690" dirty="0"/>
          </a:p>
        </p:txBody>
      </p:sp>
      <p:sp>
        <p:nvSpPr>
          <p:cNvPr id="44" name="Shape 41"/>
          <p:cNvSpPr/>
          <p:nvPr/>
        </p:nvSpPr>
        <p:spPr>
          <a:xfrm>
            <a:off x="10067544" y="1792224"/>
            <a:ext cx="1417320" cy="896112"/>
          </a:xfrm>
          <a:prstGeom prst="roundRect">
            <a:avLst>
              <a:gd name="adj" fmla="val 14286"/>
            </a:avLst>
          </a:prstGeom>
          <a:solidFill>
            <a:srgbClr val="10192D">
              <a:alpha val="92000"/>
            </a:srgbClr>
          </a:solidFill>
          <a:ln w="12700">
            <a:solidFill>
              <a:srgbClr val="314267">
                <a:alpha val="8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195560" y="1929384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9FF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Interaction</a:t>
            </a:r>
            <a:endParaRPr lang="en-US" sz="880" dirty="0"/>
          </a:p>
        </p:txBody>
      </p:sp>
      <p:sp>
        <p:nvSpPr>
          <p:cNvPr id="46" name="Text 43"/>
          <p:cNvSpPr/>
          <p:nvPr/>
        </p:nvSpPr>
        <p:spPr>
          <a:xfrm>
            <a:off x="10195560" y="2212848"/>
            <a:ext cx="1161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× B for combined effects</a:t>
            </a:r>
            <a:endParaRPr lang="en-US" sz="690" dirty="0"/>
          </a:p>
        </p:txBody>
      </p:sp>
      <p:sp>
        <p:nvSpPr>
          <p:cNvPr id="47" name="Shape 44"/>
          <p:cNvSpPr/>
          <p:nvPr/>
        </p:nvSpPr>
        <p:spPr>
          <a:xfrm>
            <a:off x="8485632" y="2907792"/>
            <a:ext cx="1417320" cy="896112"/>
          </a:xfrm>
          <a:prstGeom prst="roundRect">
            <a:avLst>
              <a:gd name="adj" fmla="val 14286"/>
            </a:avLst>
          </a:prstGeom>
          <a:solidFill>
            <a:srgbClr val="10192D">
              <a:alpha val="92000"/>
            </a:srgbClr>
          </a:solidFill>
          <a:ln w="12700">
            <a:solidFill>
              <a:srgbClr val="314267">
                <a:alpha val="85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613648" y="304495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Polynomial</a:t>
            </a:r>
            <a:endParaRPr lang="en-US" sz="880" dirty="0"/>
          </a:p>
        </p:txBody>
      </p:sp>
      <p:sp>
        <p:nvSpPr>
          <p:cNvPr id="49" name="Text 46"/>
          <p:cNvSpPr/>
          <p:nvPr/>
        </p:nvSpPr>
        <p:spPr>
          <a:xfrm>
            <a:off x="8613648" y="3328416"/>
            <a:ext cx="1161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A² for curvature</a:t>
            </a:r>
            <a:endParaRPr lang="en-US" sz="690" dirty="0"/>
          </a:p>
        </p:txBody>
      </p:sp>
      <p:sp>
        <p:nvSpPr>
          <p:cNvPr id="50" name="Shape 47"/>
          <p:cNvSpPr/>
          <p:nvPr/>
        </p:nvSpPr>
        <p:spPr>
          <a:xfrm>
            <a:off x="10067544" y="2907792"/>
            <a:ext cx="1417320" cy="896112"/>
          </a:xfrm>
          <a:prstGeom prst="roundRect">
            <a:avLst>
              <a:gd name="adj" fmla="val 14286"/>
            </a:avLst>
          </a:prstGeom>
          <a:solidFill>
            <a:srgbClr val="10192D">
              <a:alpha val="92000"/>
            </a:srgbClr>
          </a:solidFill>
          <a:ln w="12700">
            <a:solidFill>
              <a:srgbClr val="314267">
                <a:alpha val="85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195560" y="3044952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Binning</a:t>
            </a:r>
            <a:endParaRPr lang="en-US" sz="880" dirty="0"/>
          </a:p>
        </p:txBody>
      </p:sp>
      <p:sp>
        <p:nvSpPr>
          <p:cNvPr id="52" name="Text 49"/>
          <p:cNvSpPr/>
          <p:nvPr/>
        </p:nvSpPr>
        <p:spPr>
          <a:xfrm>
            <a:off x="10195560" y="3328416"/>
            <a:ext cx="1161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Quantile-based segments</a:t>
            </a:r>
            <a:endParaRPr lang="en-US" sz="690" dirty="0"/>
          </a:p>
        </p:txBody>
      </p:sp>
      <p:sp>
        <p:nvSpPr>
          <p:cNvPr id="53" name="Shape 50"/>
          <p:cNvSpPr/>
          <p:nvPr/>
        </p:nvSpPr>
        <p:spPr>
          <a:xfrm>
            <a:off x="8485632" y="4023360"/>
            <a:ext cx="1417320" cy="896112"/>
          </a:xfrm>
          <a:prstGeom prst="roundRect">
            <a:avLst>
              <a:gd name="adj" fmla="val 14286"/>
            </a:avLst>
          </a:prstGeom>
          <a:solidFill>
            <a:srgbClr val="10192D">
              <a:alpha val="92000"/>
            </a:srgbClr>
          </a:solidFill>
          <a:ln w="12700">
            <a:solidFill>
              <a:srgbClr val="314267">
                <a:alpha val="85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613648" y="416052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Encoding</a:t>
            </a:r>
            <a:endParaRPr lang="en-US" sz="880" dirty="0"/>
          </a:p>
        </p:txBody>
      </p:sp>
      <p:sp>
        <p:nvSpPr>
          <p:cNvPr id="55" name="Text 52"/>
          <p:cNvSpPr/>
          <p:nvPr/>
        </p:nvSpPr>
        <p:spPr>
          <a:xfrm>
            <a:off x="8613648" y="4443984"/>
            <a:ext cx="1161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Low-cardinality predictor dummies</a:t>
            </a:r>
            <a:endParaRPr lang="en-US" sz="690" dirty="0"/>
          </a:p>
        </p:txBody>
      </p:sp>
      <p:sp>
        <p:nvSpPr>
          <p:cNvPr id="56" name="Shape 53"/>
          <p:cNvSpPr/>
          <p:nvPr/>
        </p:nvSpPr>
        <p:spPr>
          <a:xfrm>
            <a:off x="10067544" y="4023360"/>
            <a:ext cx="1417320" cy="896112"/>
          </a:xfrm>
          <a:prstGeom prst="roundRect">
            <a:avLst>
              <a:gd name="adj" fmla="val 14286"/>
            </a:avLst>
          </a:prstGeom>
          <a:solidFill>
            <a:srgbClr val="10192D">
              <a:alpha val="92000"/>
            </a:srgbClr>
          </a:solidFill>
          <a:ln w="12700">
            <a:solidFill>
              <a:srgbClr val="314267">
                <a:alpha val="8500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0195560" y="4160520"/>
            <a:ext cx="11612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39FF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Scaling</a:t>
            </a:r>
            <a:endParaRPr lang="en-US" sz="880" dirty="0"/>
          </a:p>
        </p:txBody>
      </p:sp>
      <p:sp>
        <p:nvSpPr>
          <p:cNvPr id="58" name="Text 55"/>
          <p:cNvSpPr/>
          <p:nvPr/>
        </p:nvSpPr>
        <p:spPr>
          <a:xfrm>
            <a:off x="10195560" y="4443984"/>
            <a:ext cx="116128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9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predictor copies</a:t>
            </a:r>
            <a:endParaRPr lang="en-US" sz="690" dirty="0"/>
          </a:p>
        </p:txBody>
      </p:sp>
      <p:sp>
        <p:nvSpPr>
          <p:cNvPr id="59" name="Shape 56"/>
          <p:cNvSpPr/>
          <p:nvPr/>
        </p:nvSpPr>
        <p:spPr>
          <a:xfrm>
            <a:off x="8485632" y="5248656"/>
            <a:ext cx="2999232" cy="658368"/>
          </a:xfrm>
          <a:prstGeom prst="roundRect">
            <a:avLst>
              <a:gd name="adj" fmla="val 19444"/>
            </a:avLst>
          </a:prstGeom>
          <a:solidFill>
            <a:srgbClr val="091827">
              <a:alpha val="94000"/>
            </a:srgbClr>
          </a:solidFill>
          <a:ln w="12700">
            <a:solidFill>
              <a:srgbClr val="39FFB6">
                <a:alpha val="8500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668512" y="5468112"/>
            <a:ext cx="263347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9FF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protected during predictor transforms</a:t>
            </a:r>
            <a:endParaRPr lang="en-US" sz="8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7583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3977640"/>
          </a:xfrm>
          <a:prstGeom prst="ellipse">
            <a:avLst/>
          </a:prstGeom>
          <a:solidFill>
            <a:srgbClr val="7C5CFF">
              <a:alpha val="14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94192" y="0"/>
            <a:ext cx="3767328" cy="3767328"/>
          </a:xfrm>
          <a:prstGeom prst="ellipse">
            <a:avLst/>
          </a:prstGeom>
          <a:solidFill>
            <a:srgbClr val="00D5FF">
              <a:alpha val="10000"/>
            </a:srgbClr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43400" y="3913632"/>
            <a:ext cx="3520440" cy="2468880"/>
          </a:xfrm>
          <a:prstGeom prst="ellipse">
            <a:avLst/>
          </a:prstGeom>
          <a:solidFill>
            <a:srgbClr val="39FFB6">
              <a:alpha val="7000"/>
            </a:srgbClr>
          </a:solidFill>
          <a:ln w="12700">
            <a:solidFill>
              <a:srgbClr val="39FF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500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114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663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29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SELECT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74980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Target-aware screening with visible leakage guards.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566928" y="144475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 relevance, penalize quality risk, and explain why a feature should be kept, reviewed, or dropped.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30352" y="1563624"/>
            <a:ext cx="7891272" cy="4690872"/>
          </a:xfrm>
          <a:prstGeom prst="roundRect">
            <a:avLst>
              <a:gd name="adj" fmla="val 3509"/>
            </a:avLst>
          </a:prstGeom>
          <a:solidFill>
            <a:srgbClr val="11182C"/>
          </a:solidFill>
          <a:ln w="16510">
            <a:solidFill>
              <a:srgbClr val="00D5FF">
                <a:alpha val="55000"/>
              </a:srgbClr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30000"/>
              </a:srgbClr>
            </a:outerShdw>
          </a:effectLst>
        </p:spPr>
      </p:sp>
      <p:pic>
        <p:nvPicPr>
          <p:cNvPr id="40" name="Image 0" descr="/mnt/data/Kriss_Gowda_GitHub_Launch_Kit_Work/EDA-InsightLab-Apex/assets/screenshots/feature-selection.png">    </p:cNvPr>
          <p:cNvPicPr>
            <a:picLocks noChangeAspect="1"/>
          </p:cNvPicPr>
          <p:nvPr/>
        </p:nvPicPr>
        <p:blipFill>
          <a:blip r:embed="rId1"/>
          <a:srcRect l="0" r="0" t="9175" b="9175"/>
          <a:stretch/>
        </p:blipFill>
        <p:spPr>
          <a:xfrm>
            <a:off x="566928" y="1600200"/>
            <a:ext cx="7818120" cy="461772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8641080" y="1755648"/>
            <a:ext cx="2834640" cy="960120"/>
          </a:xfrm>
          <a:prstGeom prst="roundRect">
            <a:avLst>
              <a:gd name="adj" fmla="val 13333"/>
            </a:avLst>
          </a:prstGeom>
          <a:solidFill>
            <a:srgbClr val="0E162A">
              <a:alpha val="92000"/>
            </a:srgbClr>
          </a:solidFill>
          <a:ln w="12700">
            <a:solidFill>
              <a:srgbClr val="314264">
                <a:alpha val="8500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8787384" y="1920240"/>
            <a:ext cx="310896" cy="310896"/>
          </a:xfrm>
          <a:prstGeom prst="ellipse">
            <a:avLst/>
          </a:prstGeom>
          <a:solidFill>
            <a:srgbClr val="39FFB6"/>
          </a:solidFill>
          <a:ln w="12700">
            <a:solidFill>
              <a:srgbClr val="39FFB6">
                <a:alpha val="0"/>
              </a:srgbClr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787384" y="196596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9208008" y="188366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Meaningful default target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208008" y="2148840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Manufacturing opens with Yield_pct, not an arbitrary final column.</a:t>
            </a:r>
            <a:endParaRPr lang="en-US" sz="880" dirty="0"/>
          </a:p>
        </p:txBody>
      </p:sp>
      <p:sp>
        <p:nvSpPr>
          <p:cNvPr id="46" name="Shape 43"/>
          <p:cNvSpPr/>
          <p:nvPr/>
        </p:nvSpPr>
        <p:spPr>
          <a:xfrm>
            <a:off x="8641080" y="2852928"/>
            <a:ext cx="2834640" cy="960120"/>
          </a:xfrm>
          <a:prstGeom prst="roundRect">
            <a:avLst>
              <a:gd name="adj" fmla="val 13333"/>
            </a:avLst>
          </a:prstGeom>
          <a:solidFill>
            <a:srgbClr val="0E162A">
              <a:alpha val="92000"/>
            </a:srgbClr>
          </a:solidFill>
          <a:ln w="12700">
            <a:solidFill>
              <a:srgbClr val="314264">
                <a:alpha val="8500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787384" y="3017520"/>
            <a:ext cx="310896" cy="310896"/>
          </a:xfrm>
          <a:prstGeom prst="ellipse">
            <a:avLst/>
          </a:prstGeom>
          <a:solidFill>
            <a:srgbClr val="00D5FF"/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787384" y="306324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9208008" y="298094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Association by data type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9208008" y="3246120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Pearson, eta-squared, and Cramer’s V support mixed tabular data.</a:t>
            </a:r>
            <a:endParaRPr lang="en-US" sz="880" dirty="0"/>
          </a:p>
        </p:txBody>
      </p:sp>
      <p:sp>
        <p:nvSpPr>
          <p:cNvPr id="51" name="Shape 48"/>
          <p:cNvSpPr/>
          <p:nvPr/>
        </p:nvSpPr>
        <p:spPr>
          <a:xfrm>
            <a:off x="8641080" y="3950208"/>
            <a:ext cx="2834640" cy="960120"/>
          </a:xfrm>
          <a:prstGeom prst="roundRect">
            <a:avLst>
              <a:gd name="adj" fmla="val 13333"/>
            </a:avLst>
          </a:prstGeom>
          <a:solidFill>
            <a:srgbClr val="0E162A">
              <a:alpha val="92000"/>
            </a:srgbClr>
          </a:solidFill>
          <a:ln w="12700">
            <a:solidFill>
              <a:srgbClr val="314264">
                <a:alpha val="8500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787384" y="4114800"/>
            <a:ext cx="310896" cy="310896"/>
          </a:xfrm>
          <a:prstGeom prst="ellipse">
            <a:avLst/>
          </a:prstGeom>
          <a:solidFill>
            <a:srgbClr val="FF6575"/>
          </a:solidFill>
          <a:ln w="12700">
            <a:solidFill>
              <a:srgbClr val="FF6575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787384" y="4160520"/>
            <a:ext cx="310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7101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00" dirty="0"/>
          </a:p>
        </p:txBody>
      </p:sp>
      <p:sp>
        <p:nvSpPr>
          <p:cNvPr id="54" name="Text 51"/>
          <p:cNvSpPr/>
          <p:nvPr/>
        </p:nvSpPr>
        <p:spPr>
          <a:xfrm>
            <a:off x="9208008" y="4078224"/>
            <a:ext cx="2121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Leakage protection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9208008" y="4343400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and target-derived columns are removed from predictor ranking and PCA.</a:t>
            </a:r>
            <a:endParaRPr lang="en-US" sz="880" dirty="0"/>
          </a:p>
        </p:txBody>
      </p:sp>
      <p:sp>
        <p:nvSpPr>
          <p:cNvPr id="56" name="Text 53"/>
          <p:cNvSpPr/>
          <p:nvPr/>
        </p:nvSpPr>
        <p:spPr>
          <a:xfrm>
            <a:off x="8613648" y="5230368"/>
            <a:ext cx="2907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Screening heuristic → domain review → cross-validation</a:t>
            </a:r>
            <a:endParaRPr lang="en-US" sz="8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7583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0"/>
            <a:ext cx="3886200" cy="3886200"/>
          </a:xfrm>
          <a:prstGeom prst="ellipse">
            <a:avLst/>
          </a:prstGeom>
          <a:solidFill>
            <a:srgbClr val="7C5CFF">
              <a:alpha val="11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83280"/>
            <a:ext cx="3703320" cy="2971800"/>
          </a:xfrm>
          <a:prstGeom prst="ellipse">
            <a:avLst/>
          </a:prstGeom>
          <a:solidFill>
            <a:srgbClr val="00D5FF">
              <a:alpha val="8000"/>
            </a:srgbClr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15968" y="0"/>
            <a:ext cx="3429000" cy="2926080"/>
          </a:xfrm>
          <a:prstGeom prst="ellipse">
            <a:avLst/>
          </a:prstGeom>
          <a:solidFill>
            <a:srgbClr val="39FFB6">
              <a:alpha val="5000"/>
            </a:srgbClr>
          </a:solidFill>
          <a:ln w="12700">
            <a:solidFill>
              <a:srgbClr val="39FF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500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114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663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29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REDUCE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74980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Compress correlated numeric structure without hiding the method.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566928" y="144475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 predictors, project onto PC1/PC2, display explained variance, and optionally export the components.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30352" y="1581912"/>
            <a:ext cx="7918704" cy="4599432"/>
          </a:xfrm>
          <a:prstGeom prst="roundRect">
            <a:avLst>
              <a:gd name="adj" fmla="val 3579"/>
            </a:avLst>
          </a:prstGeom>
          <a:solidFill>
            <a:srgbClr val="11182C"/>
          </a:solidFill>
          <a:ln w="16510">
            <a:solidFill>
              <a:srgbClr val="7C5CFF">
                <a:alpha val="55000"/>
              </a:srgbClr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30000"/>
              </a:srgbClr>
            </a:outerShdw>
          </a:effectLst>
        </p:spPr>
      </p:sp>
      <p:pic>
        <p:nvPicPr>
          <p:cNvPr id="40" name="Image 0" descr="/mnt/data/Kriss_Gowda_GitHub_Launch_Kit_Work/EDA-InsightLab-Apex/assets/screenshots/pca.png">    </p:cNvPr>
          <p:cNvPicPr>
            <a:picLocks noChangeAspect="1"/>
          </p:cNvPicPr>
          <p:nvPr/>
        </p:nvPicPr>
        <p:blipFill>
          <a:blip r:embed="rId1"/>
          <a:srcRect l="1984" r="1984" t="0" b="0"/>
          <a:stretch/>
        </p:blipFill>
        <p:spPr>
          <a:xfrm>
            <a:off x="566928" y="1618488"/>
            <a:ext cx="7845552" cy="452628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8659368" y="1755648"/>
            <a:ext cx="2834640" cy="749808"/>
          </a:xfrm>
          <a:prstGeom prst="roundRect">
            <a:avLst>
              <a:gd name="adj" fmla="val 17073"/>
            </a:avLst>
          </a:prstGeom>
          <a:solidFill>
            <a:srgbClr val="10172B">
              <a:alpha val="90000"/>
            </a:srgbClr>
          </a:solidFill>
          <a:ln w="12700">
            <a:solidFill>
              <a:srgbClr val="2D3B60">
                <a:alpha val="8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805672" y="1938528"/>
            <a:ext cx="228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1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9189720" y="1874520"/>
            <a:ext cx="1124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9189720" y="2139696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Comparable feature scales</a:t>
            </a:r>
            <a:endParaRPr lang="en-US" sz="730" dirty="0"/>
          </a:p>
        </p:txBody>
      </p:sp>
      <p:sp>
        <p:nvSpPr>
          <p:cNvPr id="45" name="Shape 42"/>
          <p:cNvSpPr/>
          <p:nvPr/>
        </p:nvSpPr>
        <p:spPr>
          <a:xfrm>
            <a:off x="8659368" y="2715768"/>
            <a:ext cx="2834640" cy="749808"/>
          </a:xfrm>
          <a:prstGeom prst="roundRect">
            <a:avLst>
              <a:gd name="adj" fmla="val 17073"/>
            </a:avLst>
          </a:prstGeom>
          <a:solidFill>
            <a:srgbClr val="10172B">
              <a:alpha val="90000"/>
            </a:srgbClr>
          </a:solidFill>
          <a:ln w="12700">
            <a:solidFill>
              <a:srgbClr val="2D3B60">
                <a:alpha val="8500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8805672" y="2898648"/>
            <a:ext cx="228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2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9189720" y="2834640"/>
            <a:ext cx="1124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COVARIANCE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189720" y="3099816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 joint variation</a:t>
            </a:r>
            <a:endParaRPr lang="en-US" sz="730" dirty="0"/>
          </a:p>
        </p:txBody>
      </p:sp>
      <p:sp>
        <p:nvSpPr>
          <p:cNvPr id="49" name="Shape 46"/>
          <p:cNvSpPr/>
          <p:nvPr/>
        </p:nvSpPr>
        <p:spPr>
          <a:xfrm>
            <a:off x="8659368" y="3675888"/>
            <a:ext cx="2834640" cy="749808"/>
          </a:xfrm>
          <a:prstGeom prst="roundRect">
            <a:avLst>
              <a:gd name="adj" fmla="val 17073"/>
            </a:avLst>
          </a:prstGeom>
          <a:solidFill>
            <a:srgbClr val="10172B">
              <a:alpha val="90000"/>
            </a:srgbClr>
          </a:solidFill>
          <a:ln w="12700">
            <a:solidFill>
              <a:srgbClr val="2D3B60">
                <a:alpha val="85000"/>
              </a:srgbClr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805672" y="3858768"/>
            <a:ext cx="228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3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9189720" y="3794760"/>
            <a:ext cx="1124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EIGENVECTORS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9189720" y="4059936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Approximate principal directions</a:t>
            </a:r>
            <a:endParaRPr lang="en-US" sz="730" dirty="0"/>
          </a:p>
        </p:txBody>
      </p:sp>
      <p:sp>
        <p:nvSpPr>
          <p:cNvPr id="53" name="Shape 50"/>
          <p:cNvSpPr/>
          <p:nvPr/>
        </p:nvSpPr>
        <p:spPr>
          <a:xfrm>
            <a:off x="8659368" y="4636008"/>
            <a:ext cx="2834640" cy="749808"/>
          </a:xfrm>
          <a:prstGeom prst="roundRect">
            <a:avLst>
              <a:gd name="adj" fmla="val 17073"/>
            </a:avLst>
          </a:prstGeom>
          <a:solidFill>
            <a:srgbClr val="10172B">
              <a:alpha val="90000"/>
            </a:srgbClr>
          </a:solidFill>
          <a:ln w="12700">
            <a:solidFill>
              <a:srgbClr val="2D3B60">
                <a:alpha val="85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805672" y="4818888"/>
            <a:ext cx="228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5C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9189720" y="4754880"/>
            <a:ext cx="112471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spc="80" kern="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9189720" y="5020056"/>
            <a:ext cx="2029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3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rows into PC1/PC2</a:t>
            </a:r>
            <a:endParaRPr lang="en-US" sz="730" dirty="0"/>
          </a:p>
        </p:txBody>
      </p:sp>
      <p:sp>
        <p:nvSpPr>
          <p:cNvPr id="57" name="Text 54"/>
          <p:cNvSpPr/>
          <p:nvPr/>
        </p:nvSpPr>
        <p:spPr>
          <a:xfrm>
            <a:off x="8613648" y="5623560"/>
            <a:ext cx="2889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PCA supports compression and exploration - it does not identify causal drivers.</a:t>
            </a:r>
            <a:endParaRPr lang="en-US" sz="8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7583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3977640"/>
          </a:xfrm>
          <a:prstGeom prst="ellipse">
            <a:avLst/>
          </a:prstGeom>
          <a:solidFill>
            <a:srgbClr val="7C5CFF">
              <a:alpha val="14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94192" y="0"/>
            <a:ext cx="3767328" cy="3767328"/>
          </a:xfrm>
          <a:prstGeom prst="ellipse">
            <a:avLst/>
          </a:prstGeom>
          <a:solidFill>
            <a:srgbClr val="00D5FF">
              <a:alpha val="10000"/>
            </a:srgbClr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43400" y="3913632"/>
            <a:ext cx="3520440" cy="2468880"/>
          </a:xfrm>
          <a:prstGeom prst="ellipse">
            <a:avLst/>
          </a:prstGeom>
          <a:solidFill>
            <a:srgbClr val="39FFB6">
              <a:alpha val="7000"/>
            </a:srgbClr>
          </a:solidFill>
          <a:ln w="12700">
            <a:solidFill>
              <a:srgbClr val="39FF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500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114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663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29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· EXPORT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74980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The analytical handoff includes data, code, metadata, and narrative.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566928" y="144475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final output is more than a chart: it is a reproducible package for downstream modeling or review.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30352" y="1655064"/>
            <a:ext cx="7434072" cy="3273552"/>
          </a:xfrm>
          <a:prstGeom prst="roundRect">
            <a:avLst>
              <a:gd name="adj" fmla="val 5028"/>
            </a:avLst>
          </a:prstGeom>
          <a:solidFill>
            <a:srgbClr val="11182C"/>
          </a:solidFill>
          <a:ln w="16510">
            <a:solidFill>
              <a:srgbClr val="39FFB6">
                <a:alpha val="55000"/>
              </a:srgbClr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30000"/>
              </a:srgbClr>
            </a:outerShdw>
          </a:effectLst>
        </p:spPr>
      </p:sp>
      <p:pic>
        <p:nvPicPr>
          <p:cNvPr id="40" name="Image 0" descr="/mnt/data/Kriss_Gowda_GitHub_Launch_Kit_Work/EDA-InsightLab-Apex/assets/screenshots/data-vault.png">    </p:cNvPr>
          <p:cNvPicPr>
            <a:picLocks noChangeAspect="1"/>
          </p:cNvPicPr>
          <p:nvPr/>
        </p:nvPicPr>
        <p:blipFill>
          <a:blip r:embed="rId1"/>
          <a:srcRect l="5855" r="5855" t="0" b="0"/>
          <a:stretch/>
        </p:blipFill>
        <p:spPr>
          <a:xfrm>
            <a:off x="566928" y="1691640"/>
            <a:ext cx="7360920" cy="3200400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8211312" y="1737360"/>
            <a:ext cx="1536192" cy="1161288"/>
          </a:xfrm>
          <a:prstGeom prst="roundRect">
            <a:avLst>
              <a:gd name="adj" fmla="val 11024"/>
            </a:avLst>
          </a:prstGeom>
          <a:solidFill>
            <a:srgbClr val="0E172A">
              <a:alpha val="92000"/>
            </a:srgbClr>
          </a:solidFill>
          <a:ln w="12700">
            <a:solidFill>
              <a:srgbClr val="2E416A">
                <a:alpha val="8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339328" y="1901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9FF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8357616" y="223113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Processed rows and engineered features</a:t>
            </a:r>
            <a:endParaRPr lang="en-US" sz="720" dirty="0"/>
          </a:p>
        </p:txBody>
      </p:sp>
      <p:sp>
        <p:nvSpPr>
          <p:cNvPr id="44" name="Shape 41"/>
          <p:cNvSpPr/>
          <p:nvPr/>
        </p:nvSpPr>
        <p:spPr>
          <a:xfrm>
            <a:off x="9921240" y="1737360"/>
            <a:ext cx="1536192" cy="1161288"/>
          </a:xfrm>
          <a:prstGeom prst="roundRect">
            <a:avLst>
              <a:gd name="adj" fmla="val 11024"/>
            </a:avLst>
          </a:prstGeom>
          <a:solidFill>
            <a:srgbClr val="0E172A">
              <a:alpha val="92000"/>
            </a:srgbClr>
          </a:solidFill>
          <a:ln w="12700">
            <a:solidFill>
              <a:srgbClr val="2E416A">
                <a:alpha val="8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049256" y="1901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067544" y="223113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Ordered transformation metadata</a:t>
            </a:r>
            <a:endParaRPr lang="en-US" sz="720" dirty="0"/>
          </a:p>
        </p:txBody>
      </p:sp>
      <p:sp>
        <p:nvSpPr>
          <p:cNvPr id="47" name="Shape 44"/>
          <p:cNvSpPr/>
          <p:nvPr/>
        </p:nvSpPr>
        <p:spPr>
          <a:xfrm>
            <a:off x="8211312" y="3136392"/>
            <a:ext cx="1536192" cy="1161288"/>
          </a:xfrm>
          <a:prstGeom prst="roundRect">
            <a:avLst>
              <a:gd name="adj" fmla="val 11024"/>
            </a:avLst>
          </a:prstGeom>
          <a:solidFill>
            <a:srgbClr val="0E172A">
              <a:alpha val="92000"/>
            </a:srgbClr>
          </a:solidFill>
          <a:ln w="12700">
            <a:solidFill>
              <a:srgbClr val="2E416A">
                <a:alpha val="85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339328" y="33009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8357616" y="363016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Leakage-aware pipeline template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9921240" y="3136392"/>
            <a:ext cx="1536192" cy="1161288"/>
          </a:xfrm>
          <a:prstGeom prst="roundRect">
            <a:avLst>
              <a:gd name="adj" fmla="val 11024"/>
            </a:avLst>
          </a:prstGeom>
          <a:solidFill>
            <a:srgbClr val="0E172A">
              <a:alpha val="92000"/>
            </a:srgbClr>
          </a:solidFill>
          <a:ln w="12700">
            <a:solidFill>
              <a:srgbClr val="2E416A">
                <a:alpha val="85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0049256" y="33009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0067544" y="363016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 summary and method caveats</a:t>
            </a:r>
            <a:endParaRPr lang="en-US" sz="720" dirty="0"/>
          </a:p>
        </p:txBody>
      </p:sp>
      <p:sp>
        <p:nvSpPr>
          <p:cNvPr id="53" name="Shape 50"/>
          <p:cNvSpPr/>
          <p:nvPr/>
        </p:nvSpPr>
        <p:spPr>
          <a:xfrm>
            <a:off x="658368" y="5230368"/>
            <a:ext cx="10844784" cy="640080"/>
          </a:xfrm>
          <a:prstGeom prst="roundRect">
            <a:avLst>
              <a:gd name="adj" fmla="val 20000"/>
            </a:avLst>
          </a:prstGeom>
          <a:solidFill>
            <a:srgbClr val="0A1527">
              <a:alpha val="91000"/>
            </a:srgbClr>
          </a:solidFill>
          <a:ln w="12700">
            <a:solidFill>
              <a:srgbClr val="FFC857">
                <a:alpha val="8500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896112" y="5431536"/>
            <a:ext cx="10369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Processed data is a strong analytical starting point - final modeling still requires a leakage-safe split, train-only fitting, and task-specific validation.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7583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0"/>
            <a:ext cx="3886200" cy="3886200"/>
          </a:xfrm>
          <a:prstGeom prst="ellipse">
            <a:avLst/>
          </a:prstGeom>
          <a:solidFill>
            <a:srgbClr val="7C5CFF">
              <a:alpha val="11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83280"/>
            <a:ext cx="3703320" cy="2971800"/>
          </a:xfrm>
          <a:prstGeom prst="ellipse">
            <a:avLst/>
          </a:prstGeom>
          <a:solidFill>
            <a:srgbClr val="00D5FF">
              <a:alpha val="8000"/>
            </a:srgbClr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15968" y="0"/>
            <a:ext cx="3429000" cy="2926080"/>
          </a:xfrm>
          <a:prstGeom prst="ellipse">
            <a:avLst/>
          </a:prstGeom>
          <a:solidFill>
            <a:srgbClr val="39FFB6">
              <a:alpha val="5000"/>
            </a:srgbClr>
          </a:solidFill>
          <a:ln w="12700">
            <a:solidFill>
              <a:srgbClr val="39FF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500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114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663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29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+ PRIVACY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74980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Zero-backend by design. Production-ready evolution by roadmap.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566928" y="144475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current product keeps uploaded CSV rows in the browser while preserving a clear path to scalable analytical services.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30352" y="1591056"/>
            <a:ext cx="7114032" cy="4526280"/>
          </a:xfrm>
          <a:prstGeom prst="roundRect">
            <a:avLst>
              <a:gd name="adj" fmla="val 3636"/>
            </a:avLst>
          </a:prstGeom>
          <a:solidFill>
            <a:srgbClr val="11182C"/>
          </a:solidFill>
          <a:ln w="16510">
            <a:solidFill>
              <a:srgbClr val="00D5FF">
                <a:alpha val="55000"/>
              </a:srgbClr>
            </a:solidFill>
            <a:prstDash val="solid"/>
          </a:ln>
          <a:effectLst>
            <a:outerShdw sx="100000" sy="100000" kx="0" ky="0" algn="bl" rotWithShape="0" blurRad="38100" dist="50800" dir="2700000">
              <a:srgbClr val="000000">
                <a:alpha val="30000"/>
              </a:srgbClr>
            </a:outerShdw>
          </a:effectLst>
        </p:spPr>
      </p:sp>
      <p:pic>
        <p:nvPicPr>
          <p:cNvPr id="40" name="Image 0" descr="/mnt/data/Kriss_Gowda_GitHub_Launch_Kit_Work/EDA-InsightLab-Apex/assets/diagrams/architecture.png">    </p:cNvPr>
          <p:cNvPicPr>
            <a:picLocks noChangeAspect="1"/>
          </p:cNvPicPr>
          <p:nvPr/>
        </p:nvPicPr>
        <p:blipFill>
          <a:blip r:embed="rId1"/>
          <a:srcRect l="3884" r="3884" t="0" b="0"/>
          <a:stretch/>
        </p:blipFill>
        <p:spPr>
          <a:xfrm>
            <a:off x="566928" y="1627632"/>
            <a:ext cx="7040880" cy="4453128"/>
          </a:xfrm>
          <a:prstGeom prst="rect">
            <a:avLst/>
          </a:prstGeom>
        </p:spPr>
      </p:pic>
      <p:sp>
        <p:nvSpPr>
          <p:cNvPr id="41" name="Shape 38"/>
          <p:cNvSpPr/>
          <p:nvPr/>
        </p:nvSpPr>
        <p:spPr>
          <a:xfrm>
            <a:off x="7936992" y="1664208"/>
            <a:ext cx="3639312" cy="1901952"/>
          </a:xfrm>
          <a:prstGeom prst="roundRect">
            <a:avLst>
              <a:gd name="adj" fmla="val 6731"/>
            </a:avLst>
          </a:prstGeom>
          <a:solidFill>
            <a:srgbClr val="0B1728">
              <a:alpha val="93000"/>
            </a:srgbClr>
          </a:solidFill>
          <a:ln w="12700">
            <a:solidFill>
              <a:srgbClr val="2E4168">
                <a:alpha val="85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193024" y="189280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20" kern="0" dirty="0">
                <a:solidFill>
                  <a:srgbClr val="39FF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RELEASE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8193024" y="2267712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9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Static HTML, CSS, and JavaScript</a:t>
            </a:r>
            <a:endParaRPr lang="en-US" sz="920" dirty="0"/>
          </a:p>
          <a:p>
            <a:r>
              <a:rPr lang="en-US" sz="9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Browser-memory data state</a:t>
            </a:r>
            <a:endParaRPr lang="en-US" sz="920" dirty="0"/>
          </a:p>
          <a:p>
            <a:r>
              <a:rPr lang="en-US" sz="9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SVG chart rendering</a:t>
            </a:r>
            <a:endParaRPr lang="en-US" sz="920" dirty="0"/>
          </a:p>
          <a:p>
            <a:r>
              <a:rPr lang="en-US" sz="9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Client-side file exports</a:t>
            </a:r>
            <a:endParaRPr lang="en-US" sz="920" dirty="0"/>
          </a:p>
          <a:p>
            <a:r>
              <a:rPr lang="en-US" sz="9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No project-owned data API</a:t>
            </a:r>
            <a:endParaRPr lang="en-US" sz="920" dirty="0"/>
          </a:p>
        </p:txBody>
      </p:sp>
      <p:sp>
        <p:nvSpPr>
          <p:cNvPr id="44" name="Shape 41"/>
          <p:cNvSpPr/>
          <p:nvPr/>
        </p:nvSpPr>
        <p:spPr>
          <a:xfrm>
            <a:off x="7936992" y="3794760"/>
            <a:ext cx="3639312" cy="1920240"/>
          </a:xfrm>
          <a:prstGeom prst="roundRect">
            <a:avLst>
              <a:gd name="adj" fmla="val 6667"/>
            </a:avLst>
          </a:prstGeom>
          <a:solidFill>
            <a:srgbClr val="0B1728">
              <a:alpha val="93000"/>
            </a:srgbClr>
          </a:solidFill>
          <a:ln w="12700">
            <a:solidFill>
              <a:srgbClr val="2E4168">
                <a:alpha val="85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193024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spc="12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EVOLUTION</a:t>
            </a:r>
            <a:endParaRPr lang="en-US" sz="840" dirty="0"/>
          </a:p>
        </p:txBody>
      </p:sp>
      <p:sp>
        <p:nvSpPr>
          <p:cNvPr id="46" name="Text 43"/>
          <p:cNvSpPr/>
          <p:nvPr/>
        </p:nvSpPr>
        <p:spPr>
          <a:xfrm>
            <a:off x="8193024" y="4398264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Validated Python statistics service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Larger datasets and job queues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Authentication and data lineage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Versioned runs and audit logs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Governed AI explanations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7583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77640" cy="3977640"/>
          </a:xfrm>
          <a:prstGeom prst="ellipse">
            <a:avLst/>
          </a:prstGeom>
          <a:solidFill>
            <a:srgbClr val="7C5CFF">
              <a:alpha val="14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94192" y="0"/>
            <a:ext cx="3767328" cy="3767328"/>
          </a:xfrm>
          <a:prstGeom prst="ellipse">
            <a:avLst/>
          </a:prstGeom>
          <a:solidFill>
            <a:srgbClr val="00D5FF">
              <a:alpha val="10000"/>
            </a:srgbClr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43400" y="3913632"/>
            <a:ext cx="3520440" cy="2468880"/>
          </a:xfrm>
          <a:prstGeom prst="ellipse">
            <a:avLst/>
          </a:prstGeom>
          <a:solidFill>
            <a:srgbClr val="39FFB6">
              <a:alpha val="7000"/>
            </a:srgbClr>
          </a:solidFill>
          <a:ln w="12700">
            <a:solidFill>
              <a:srgbClr val="39FF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500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114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663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29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INTEGRITY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74980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Trust comes from separating what works from what still needs validation.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566928" y="144475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product is strongest when its claims are precise, testable, and honest.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21792" y="1691640"/>
            <a:ext cx="5340096" cy="4224528"/>
          </a:xfrm>
          <a:prstGeom prst="roundRect">
            <a:avLst>
              <a:gd name="adj" fmla="val 3030"/>
            </a:avLst>
          </a:prstGeom>
          <a:solidFill>
            <a:srgbClr val="0C1727">
              <a:alpha val="92000"/>
            </a:srgbClr>
          </a:solidFill>
          <a:ln w="12700">
            <a:solidFill>
              <a:srgbClr val="274569">
                <a:alpha val="8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36208" y="1691640"/>
            <a:ext cx="5340096" cy="4224528"/>
          </a:xfrm>
          <a:prstGeom prst="roundRect">
            <a:avLst>
              <a:gd name="adj" fmla="val 3030"/>
            </a:avLst>
          </a:prstGeom>
          <a:solidFill>
            <a:srgbClr val="130E21">
              <a:alpha val="92000"/>
            </a:srgbClr>
          </a:solidFill>
          <a:ln w="12700">
            <a:solidFill>
              <a:srgbClr val="46346B">
                <a:alpha val="8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6112" y="19933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39FF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WORKFLOW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14400" y="2468880"/>
            <a:ext cx="45720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CSV ingestion and schema inference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Descriptive profiling and SVG visuals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Tracked cleaning and engineered features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Target protection and leakage guards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Feature screening and PCA workflow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CSV, JSON, Python, and report exports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Responsive desktop and mobile layout</a:t>
            </a:r>
            <a:endParaRPr lang="en-US" sz="1110" dirty="0"/>
          </a:p>
        </p:txBody>
      </p:sp>
      <p:sp>
        <p:nvSpPr>
          <p:cNvPr id="43" name="Text 41"/>
          <p:cNvSpPr/>
          <p:nvPr/>
        </p:nvSpPr>
        <p:spPr>
          <a:xfrm>
            <a:off x="6510528" y="199339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 BOUNDARIES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28816" y="2468880"/>
            <a:ext cx="457200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Health and readiness scores are heuristics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Selection is screening, not trained importance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IQR flags are diagnostics, not deletion rules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Correlation is not causation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PCA needs reference-library comparison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No production model is trained in v1.0</a:t>
            </a:r>
            <a:endParaRPr lang="en-US" sz="1110" dirty="0"/>
          </a:p>
          <a:p>
            <a:pPr indent="0" marL="0">
              <a:buNone/>
            </a:pPr>
            <a:r>
              <a:rPr lang="en-US" sz="1110" dirty="0">
                <a:solidFill>
                  <a:srgbClr val="F4F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Regulated decisions require stronger controls</a:t>
            </a:r>
            <a:endParaRPr lang="en-US" sz="1110" dirty="0"/>
          </a:p>
        </p:txBody>
      </p:sp>
      <p:sp>
        <p:nvSpPr>
          <p:cNvPr id="45" name="Shape 43"/>
          <p:cNvSpPr/>
          <p:nvPr/>
        </p:nvSpPr>
        <p:spPr>
          <a:xfrm>
            <a:off x="4791456" y="6062472"/>
            <a:ext cx="2606040" cy="329184"/>
          </a:xfrm>
          <a:prstGeom prst="roundRect">
            <a:avLst>
              <a:gd name="adj" fmla="val 50000"/>
            </a:avLst>
          </a:prstGeom>
          <a:solidFill>
            <a:srgbClr val="00D5FF">
              <a:alpha val="17000"/>
            </a:srgbClr>
          </a:solidFill>
          <a:ln w="12700">
            <a:solidFill>
              <a:srgbClr val="00D5FF">
                <a:alpha val="6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01184" y="6131052"/>
            <a:ext cx="2386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spc="8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 OVER HYPE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7583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5320" y="0"/>
            <a:ext cx="3886200" cy="3886200"/>
          </a:xfrm>
          <a:prstGeom prst="ellipse">
            <a:avLst/>
          </a:prstGeom>
          <a:solidFill>
            <a:srgbClr val="7C5CFF">
              <a:alpha val="11000"/>
            </a:srgbClr>
          </a:solidFill>
          <a:ln w="12700">
            <a:solidFill>
              <a:srgbClr val="7C5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383280"/>
            <a:ext cx="3703320" cy="2971800"/>
          </a:xfrm>
          <a:prstGeom prst="ellipse">
            <a:avLst/>
          </a:prstGeom>
          <a:solidFill>
            <a:srgbClr val="00D5FF">
              <a:alpha val="8000"/>
            </a:srgbClr>
          </a:solidFill>
          <a:ln w="12700">
            <a:solidFill>
              <a:srgbClr val="00D5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15968" y="0"/>
            <a:ext cx="3429000" cy="2926080"/>
          </a:xfrm>
          <a:prstGeom prst="ellipse">
            <a:avLst/>
          </a:prstGeom>
          <a:solidFill>
            <a:srgbClr val="39FFB6">
              <a:alpha val="5000"/>
            </a:srgbClr>
          </a:solidFill>
          <a:ln w="12700">
            <a:solidFill>
              <a:srgbClr val="39FF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346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120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895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838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7782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7260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6696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6132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5568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50040" y="0"/>
            <a:ext cx="0" cy="644652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114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0058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6002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1945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889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3832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7764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7200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6636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76072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355080"/>
            <a:ext cx="12188952" cy="0"/>
          </a:xfrm>
          <a:prstGeom prst="line">
            <a:avLst/>
          </a:prstGeom>
          <a:noFill/>
          <a:ln w="4445">
            <a:solidFill>
              <a:srgbClr val="16203A">
                <a:alpha val="3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4297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2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COMES NEXT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66928" y="749808"/>
            <a:ext cx="11018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From flagship prototype to governed analytical platform.</a:t>
            </a:r>
            <a:endParaRPr lang="en-US" sz="2700" dirty="0"/>
          </a:p>
        </p:txBody>
      </p:sp>
      <p:sp>
        <p:nvSpPr>
          <p:cNvPr id="38" name="Text 36"/>
          <p:cNvSpPr/>
          <p:nvPr/>
        </p:nvSpPr>
        <p:spPr>
          <a:xfrm>
            <a:off x="566928" y="144475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clear roadmap converts the current product into a serious foundation for AI, operations, quality, and decision intelligence.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594360" y="1874520"/>
            <a:ext cx="2029968" cy="2148840"/>
          </a:xfrm>
          <a:prstGeom prst="roundRect">
            <a:avLst>
              <a:gd name="adj" fmla="val 6306"/>
            </a:avLst>
          </a:prstGeom>
          <a:solidFill>
            <a:srgbClr val="0E1527">
              <a:alpha val="92000"/>
            </a:srgbClr>
          </a:solidFill>
          <a:ln w="12700">
            <a:solidFill>
              <a:srgbClr val="2E4164">
                <a:alpha val="8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" y="20848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30" kern="0" dirty="0">
                <a:solidFill>
                  <a:srgbClr val="39FF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40664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v1.0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777240" y="315468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Local-first discovery, feature workflow, PCA, export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2898648" y="1874520"/>
            <a:ext cx="2029968" cy="2148840"/>
          </a:xfrm>
          <a:prstGeom prst="roundRect">
            <a:avLst>
              <a:gd name="adj" fmla="val 6306"/>
            </a:avLst>
          </a:prstGeom>
          <a:solidFill>
            <a:srgbClr val="0E1527">
              <a:alpha val="92000"/>
            </a:srgbClr>
          </a:solidFill>
          <a:ln w="12700">
            <a:solidFill>
              <a:srgbClr val="2E4164">
                <a:alpha val="8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44952" y="20848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30" kern="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3044952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v1.1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3081528" y="315468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Reference-library tests, schema overrides, accessibility</a:t>
            </a:r>
            <a:endParaRPr lang="en-US" sz="820" dirty="0"/>
          </a:p>
        </p:txBody>
      </p:sp>
      <p:sp>
        <p:nvSpPr>
          <p:cNvPr id="47" name="Shape 45"/>
          <p:cNvSpPr/>
          <p:nvPr/>
        </p:nvSpPr>
        <p:spPr>
          <a:xfrm>
            <a:off x="5202936" y="1874520"/>
            <a:ext cx="2029968" cy="2148840"/>
          </a:xfrm>
          <a:prstGeom prst="roundRect">
            <a:avLst>
              <a:gd name="adj" fmla="val 6306"/>
            </a:avLst>
          </a:prstGeom>
          <a:solidFill>
            <a:srgbClr val="0E1527">
              <a:alpha val="92000"/>
            </a:srgbClr>
          </a:solidFill>
          <a:ln w="12700">
            <a:solidFill>
              <a:srgbClr val="2E4164">
                <a:alpha val="8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49240" y="20848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30" kern="0" dirty="0">
                <a:solidFill>
                  <a:srgbClr val="7C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349240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v1.2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385816" y="315468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Leakage-safe splits, baseline models, error analysis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7507224" y="1874520"/>
            <a:ext cx="2029968" cy="2148840"/>
          </a:xfrm>
          <a:prstGeom prst="roundRect">
            <a:avLst>
              <a:gd name="adj" fmla="val 6306"/>
            </a:avLst>
          </a:prstGeom>
          <a:solidFill>
            <a:srgbClr val="0E1527">
              <a:alpha val="92000"/>
            </a:srgbClr>
          </a:solidFill>
          <a:ln w="12700">
            <a:solidFill>
              <a:srgbClr val="2E4164">
                <a:alpha val="8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53528" y="20848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30" kern="0" dirty="0">
                <a:solidFill>
                  <a:srgbClr val="FFC8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653528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v2.0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7690104" y="315468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service, versioning, auth, lineage, audit</a:t>
            </a:r>
            <a:endParaRPr lang="en-US" sz="820" dirty="0"/>
          </a:p>
        </p:txBody>
      </p:sp>
      <p:sp>
        <p:nvSpPr>
          <p:cNvPr id="55" name="Shape 53"/>
          <p:cNvSpPr/>
          <p:nvPr/>
        </p:nvSpPr>
        <p:spPr>
          <a:xfrm>
            <a:off x="9811512" y="1874520"/>
            <a:ext cx="2029968" cy="2148840"/>
          </a:xfrm>
          <a:prstGeom prst="roundRect">
            <a:avLst>
              <a:gd name="adj" fmla="val 6306"/>
            </a:avLst>
          </a:prstGeom>
          <a:solidFill>
            <a:srgbClr val="0E1527">
              <a:alpha val="92000"/>
            </a:srgbClr>
          </a:solidFill>
          <a:ln w="12700">
            <a:solidFill>
              <a:srgbClr val="2E4164">
                <a:alpha val="8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957816" y="20848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30" kern="0" dirty="0">
                <a:solidFill>
                  <a:srgbClr val="FF657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9957816" y="2542032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v2.5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9994392" y="3154680"/>
            <a:ext cx="1627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AAB6D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AI copilot grounded in computed evidence</a:t>
            </a:r>
            <a:endParaRPr lang="en-US" sz="820" dirty="0"/>
          </a:p>
        </p:txBody>
      </p:sp>
      <p:sp>
        <p:nvSpPr>
          <p:cNvPr id="59" name="Text 57"/>
          <p:cNvSpPr/>
          <p:nvPr/>
        </p:nvSpPr>
        <p:spPr>
          <a:xfrm>
            <a:off x="914400" y="470916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F7FF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BUILD WITH EVIDENCE. SHIP WITH INTENT.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1097280" y="5440680"/>
            <a:ext cx="9966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00D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Kriss Gowda  ·  github.com/Krishna-V-Gowda  ·  krishna-v-gowda.github.io/EDA-InsightLab-Apex/</a:t>
            </a:r>
            <a:endParaRPr lang="en-US" sz="920" dirty="0"/>
          </a:p>
        </p:txBody>
      </p:sp>
      <p:sp>
        <p:nvSpPr>
          <p:cNvPr id="61" name="Shape 59"/>
          <p:cNvSpPr/>
          <p:nvPr/>
        </p:nvSpPr>
        <p:spPr>
          <a:xfrm>
            <a:off x="3767328" y="5870448"/>
            <a:ext cx="4663440" cy="438912"/>
          </a:xfrm>
          <a:prstGeom prst="roundRect">
            <a:avLst>
              <a:gd name="adj" fmla="val 29167"/>
            </a:avLst>
          </a:prstGeom>
          <a:solidFill>
            <a:srgbClr val="091929">
              <a:alpha val="93000"/>
            </a:srgbClr>
          </a:solidFill>
          <a:ln w="12700">
            <a:solidFill>
              <a:srgbClr val="39FFB6">
                <a:alpha val="8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950208" y="5998464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9FF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· feedback · collaboration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2286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7583A6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EDA InsightLab Apex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InsightLab Apex - Product Deck</dc:title>
  <dc:subject>Product overview and technical walkthrough</dc:subject>
  <dc:creator>Kriss Gowda</dc:creator>
  <cp:lastModifiedBy>Kriss Gowda</cp:lastModifiedBy>
  <cp:revision>1</cp:revision>
  <dcterms:created xsi:type="dcterms:W3CDTF">2026-08-05T13:09:25Z</dcterms:created>
  <dcterms:modified xsi:type="dcterms:W3CDTF">2026-08-05T13:09:25Z</dcterms:modified>
</cp:coreProperties>
</file>